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0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698480" y="457200"/>
            <a:ext cx="457200" cy="457200"/>
          </a:xfrm>
          <a:prstGeom prst="rect">
            <a:avLst/>
          </a:prstGeom>
          <a:solidFill>
            <a:srgbClr val="D4AF3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1155680" y="960120"/>
            <a:ext cx="256032" cy="256032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502920" y="5760720"/>
            <a:ext cx="320040" cy="320040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3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 WATCH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of the Vanishing Sapphire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Discrete Bayesian Network mystery solver — built with pgmpy, Streamlit &amp; Graphviz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611880"/>
            <a:ext cx="10698480" cy="2331720"/>
          </a:xfrm>
          <a:prstGeom prst="roundRect">
            <a:avLst>
              <a:gd name="adj" fmla="val 4706"/>
            </a:avLst>
          </a:prstGeom>
          <a:solidFill>
            <a:srgbClr val="231A4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93292" y="4224528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1193292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Tasnif Gaffar Pronoy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3218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2222590042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5532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&amp; Verdict 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59836" y="422452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259836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89504" y="48646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Nazibul Islam Nabil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89504" y="53218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2222456042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89504" y="5532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Bootstrap &amp; CPD Viewer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26380" y="4224528"/>
            <a:ext cx="566928" cy="566928"/>
          </a:xfrm>
          <a:prstGeom prst="ellipse">
            <a:avLst/>
          </a:prstGeom>
          <a:solidFill>
            <a:srgbClr val="35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326380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56048" y="48646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Zinat Shaharin Mim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53218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2111301042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56048" y="5532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 &amp; Theming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92924" y="4224528"/>
            <a:ext cx="566928" cy="566928"/>
          </a:xfrm>
          <a:prstGeom prst="ellipse">
            <a:avLst/>
          </a:prstGeom>
          <a:solidFill>
            <a:srgbClr val="35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92924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22592" y="48646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Nazifa Tahsin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22592" y="53218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2132652642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22592" y="5532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&amp; Evidence Sidebar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459468" y="4224528"/>
            <a:ext cx="566928" cy="566928"/>
          </a:xfrm>
          <a:prstGeom prst="ellipse">
            <a:avLst/>
          </a:prstGeom>
          <a:solidFill>
            <a:srgbClr val="35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9459468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89136" y="48646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Jannat-a-habib-Baishakhi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89136" y="53218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2131069642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089136" y="5532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Prior-Belief View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CSE440 Section 1 · Group 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Md. Nazibul Islam Nabil • Tasnif Gaffar Pronoy • Nazifa Tahsin • Zinat Shaharin Mim • Jannat-a-habib-Baishakhi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0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92840" y="502920"/>
            <a:ext cx="365760" cy="365760"/>
          </a:xfrm>
          <a:prstGeom prst="rect">
            <a:avLst/>
          </a:prstGeom>
          <a:solidFill>
            <a:srgbClr val="D4AF3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18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&amp; Verdict Engine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246120" cy="4572000"/>
          </a:xfrm>
          <a:prstGeom prst="roundRect">
            <a:avLst>
              <a:gd name="adj" fmla="val 3380"/>
            </a:avLst>
          </a:prstGeom>
          <a:solidFill>
            <a:srgbClr val="231A42"/>
          </a:solidFill>
          <a:ln/>
        </p:spPr>
      </p:sp>
      <p:sp>
        <p:nvSpPr>
          <p:cNvPr id="7" name="Shape 5"/>
          <p:cNvSpPr/>
          <p:nvPr/>
        </p:nvSpPr>
        <p:spPr>
          <a:xfrm>
            <a:off x="1440180" y="2103120"/>
            <a:ext cx="1280160" cy="1280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44018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Tasnif Gaffar Pronoy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2222590042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4572000"/>
            <a:ext cx="2286000" cy="0"/>
          </a:xfrm>
          <a:prstGeom prst="line">
            <a:avLst/>
          </a:prstGeom>
          <a:noFill/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8006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dict → Variable Elimination → posterior table + chart + verdict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737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module does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148840"/>
            <a:ext cx="7498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the “Solve the Mystery” button and assembled evidence_dict by keeping only the selectors a player actually set — every widget left on “Unknown” is skipped so pgmpy marginalizes it instead of clamping it.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the single call that turns the whole app into a working Bayesian reasoner: inference.query(variables=['GuiltyParty'], evidence=evidence_dict), invoking pgmpy's Variable Elimination on the live clue set.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returned DiscreteFactor into a sorted pandas DataFrame (Suspect, Probability_pct) and renders it as both a results table and a live st.bar_chart of the three posteriors.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the natural-language verdict banner: ‘Case Closed’ (+balloons) once the top suspect clears 60%, ‘Too close to call’ when the top two sit within an 8-point margin, otherwise a cautious ‘Leading suspect’ warning.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the entire query path in try/except so conflicting or contradictory evidence degrades gracefully instead of crashing the interface.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Md. Nazibul Islam Nabil • Tasnif Gaffar Pronoy • Nazifa Tahsin • Zinat Shaharin Mim • Jannat-a-habib-Baishakhi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0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92840" y="502920"/>
            <a:ext cx="365760" cy="365760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BOOTSTRAP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Bootstrap &amp; CPD Viewer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246120" cy="4572000"/>
          </a:xfrm>
          <a:prstGeom prst="roundRect">
            <a:avLst>
              <a:gd name="adj" fmla="val 3380"/>
            </a:avLst>
          </a:prstGeom>
          <a:solidFill>
            <a:srgbClr val="231A42"/>
          </a:solidFill>
          <a:ln/>
        </p:spPr>
      </p:sp>
      <p:sp>
        <p:nvSpPr>
          <p:cNvPr id="7" name="Shape 5"/>
          <p:cNvSpPr/>
          <p:nvPr/>
        </p:nvSpPr>
        <p:spPr>
          <a:xfrm>
            <a:off x="1440180" y="210312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44018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Md. Nazibul Islam Nabil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2222456042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4572000"/>
            <a:ext cx="2286000" cy="0"/>
          </a:xfrm>
          <a:prstGeom prst="line">
            <a:avLst/>
          </a:prstGeom>
          <a:noFill/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8006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DAG + CPDs once, then hands the engine to every other module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737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module does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148840"/>
            <a:ext cx="7498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build_bayesian_network() from supports/mystery_solver.py and wraps the returned DiscreteBayesianNetwork in pgmpy's VariableElimination — the engine every later query in the app runs on.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Graphviz DAG via create_graphviz_plot(model) and renders it with st.graphviz_chart, giving players a literal picture of the ‘one hidden cause, many observable effects’ topology.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in-app explanation of conditional independence — e.g. ForcedEntry ⊥ AlibiA given GuiltyParty — so the graph teaches the Naive-Bayes assumption instead of just decorating the page.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collapsible ‘Peek at the Math’ panel that loops over model.get_cpds() and turns every TabularCPD into a readable dataframe with cpd_to_dataframe().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defensive error handling (ValueError / generic Exception) around model construction so a malformed CPD fails loudly instead of silently breaking inference.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Md. Nazibul Islam Nabil • Tasnif Gaffar Pronoy • Nazifa Tahsin • Zinat Shaharin Mim • Jannat-a-habib-Baishakhi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0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92840" y="502920"/>
            <a:ext cx="365760" cy="365760"/>
          </a:xfrm>
          <a:prstGeom prst="rect">
            <a:avLst/>
          </a:prstGeom>
          <a:solidFill>
            <a:srgbClr val="C7CCDA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7CCDA">
              <a:alpha val="18000"/>
            </a:srgbClr>
          </a:solidFill>
          <a:ln w="12700">
            <a:solidFill>
              <a:srgbClr val="C7CC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CONFIG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Shell &amp; Theming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246120" cy="4572000"/>
          </a:xfrm>
          <a:prstGeom prst="roundRect">
            <a:avLst>
              <a:gd name="adj" fmla="val 3380"/>
            </a:avLst>
          </a:prstGeom>
          <a:solidFill>
            <a:srgbClr val="231A42"/>
          </a:solidFill>
          <a:ln/>
        </p:spPr>
      </p:sp>
      <p:sp>
        <p:nvSpPr>
          <p:cNvPr id="7" name="Shape 5"/>
          <p:cNvSpPr/>
          <p:nvPr/>
        </p:nvSpPr>
        <p:spPr>
          <a:xfrm>
            <a:off x="1440180" y="2103120"/>
            <a:ext cx="1280160" cy="1280160"/>
          </a:xfrm>
          <a:prstGeom prst="ellipse">
            <a:avLst/>
          </a:prstGeom>
          <a:solidFill>
            <a:srgbClr val="C7CCDA"/>
          </a:solidFill>
          <a:ln/>
        </p:spPr>
      </p:sp>
      <p:sp>
        <p:nvSpPr>
          <p:cNvPr id="8" name="Text 6"/>
          <p:cNvSpPr/>
          <p:nvPr/>
        </p:nvSpPr>
        <p:spPr>
          <a:xfrm>
            <a:off x="144018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Zinat Shaharin Mim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2111301042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4572000"/>
            <a:ext cx="2286000" cy="0"/>
          </a:xfrm>
          <a:prstGeom prst="line">
            <a:avLst/>
          </a:prstGeom>
          <a:noFill/>
          <a:ln w="12700">
            <a:solidFill>
              <a:srgbClr val="C7CCDA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8006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theme dictionary drives every name, emoji, and color in the UI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737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module does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148840"/>
            <a:ext cx="7498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st.set_page_config(page_title, page_icon=‘💎’, layout=‘wide’) and wrote the title banner and tagline that players see the instant the app loads.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every piece of narrative ‘flavor’ into one theme block — SUSPECT_NAMES, SUSPECT_EMOJI, and SUSPECT_COLOR (gold / silver / velvet-purple) — so the whole case can be re-skinned without touching a single line of Bayesian logic.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the optional Graphviz import gracefully: if the system binary isn't installed, the app degrades with a clear st.warning() instead of crashing.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friendly ModuleNotFoundError / ImportError guard around the supports.mystery_solver import, with actionable fix-it text instead of a raw traceback.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Md. Nazibul Islam Nabil • Tasnif Gaffar Pronoy • Nazifa Tahsin • Zinat Shaharin Mim • Jannat-a-habib-Baishakhi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0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92840" y="502920"/>
            <a:ext cx="365760" cy="365760"/>
          </a:xfrm>
          <a:prstGeom prst="rect">
            <a:avLst/>
          </a:prstGeom>
          <a:solidFill>
            <a:srgbClr val="6D5FD1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6D5FD1">
              <a:alpha val="18000"/>
            </a:srgbClr>
          </a:solidFill>
          <a:ln w="12700">
            <a:solidFill>
              <a:srgbClr val="6D5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D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INPUTS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File &amp; Evidence Sidebar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246120" cy="4572000"/>
          </a:xfrm>
          <a:prstGeom prst="roundRect">
            <a:avLst>
              <a:gd name="adj" fmla="val 3380"/>
            </a:avLst>
          </a:prstGeom>
          <a:solidFill>
            <a:srgbClr val="231A42"/>
          </a:solidFill>
          <a:ln/>
        </p:spPr>
      </p:sp>
      <p:sp>
        <p:nvSpPr>
          <p:cNvPr id="7" name="Shape 5"/>
          <p:cNvSpPr/>
          <p:nvPr/>
        </p:nvSpPr>
        <p:spPr>
          <a:xfrm>
            <a:off x="1440180" y="2103120"/>
            <a:ext cx="1280160" cy="1280160"/>
          </a:xfrm>
          <a:prstGeom prst="ellipse">
            <a:avLst/>
          </a:prstGeom>
          <a:solidFill>
            <a:srgbClr val="6D5FD1"/>
          </a:solidFill>
          <a:ln/>
        </p:spPr>
      </p:sp>
      <p:sp>
        <p:nvSpPr>
          <p:cNvPr id="8" name="Text 6"/>
          <p:cNvSpPr/>
          <p:nvPr/>
        </p:nvSpPr>
        <p:spPr>
          <a:xfrm>
            <a:off x="144018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Nazifa Tahsin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2132652642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4572000"/>
            <a:ext cx="2286000" cy="0"/>
          </a:xfrm>
          <a:prstGeom prst="line">
            <a:avLst/>
          </a:prstGeom>
          <a:noFill/>
          <a:ln w="12700">
            <a:solidFill>
              <a:srgbClr val="6D5FD1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8006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clue selectors, one reset callback, zero assumed evidence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737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6D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module does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148840"/>
            <a:ext cx="7498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in-character case-file narrative and the three suspect dossiers shown in the sidebar before a single clue is entered.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all eight evidence selectors — ForcedEntry, MotiveA/B, AlibiA/B/C, Fingerprints (its own 4-state None/A/B/C map), and SecurityFootage — every widget defaulting to ‘Unknown’ so no clue is assumed.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evidence_options / fp_options dictionaries that translate a friendly label into exactly what pgmpy expects, mapping ‘Unknown’ straight to Python None.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session-state plumbing behind ‘Reset All Clues’: seeding EVIDENCE_WIDGET_KEYS once, then a reset_clues() callback that snaps every selector back to Unknown in a single click.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Md. Nazibul Islam Nabil • Tasnif Gaffar Pronoy • Nazifa Tahsin • Zinat Shaharin Mim • Jannat-a-habib-Baishakhi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0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92840" y="502920"/>
            <a:ext cx="365760" cy="365760"/>
          </a:xfrm>
          <a:prstGeom prst="rect">
            <a:avLst/>
          </a:prstGeom>
          <a:solidFill>
            <a:srgbClr val="3FA9A0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3FA9A0">
              <a:alpha val="18000"/>
            </a:srgbClr>
          </a:solidFill>
          <a:ln w="12700">
            <a:solidFill>
              <a:srgbClr val="3FA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PRIOR-STATE UX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Prior-Belief View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246120" cy="4572000"/>
          </a:xfrm>
          <a:prstGeom prst="roundRect">
            <a:avLst>
              <a:gd name="adj" fmla="val 3380"/>
            </a:avLst>
          </a:prstGeom>
          <a:solidFill>
            <a:srgbClr val="231A42"/>
          </a:solidFill>
          <a:ln/>
        </p:spPr>
      </p:sp>
      <p:sp>
        <p:nvSpPr>
          <p:cNvPr id="7" name="Shape 5"/>
          <p:cNvSpPr/>
          <p:nvPr/>
        </p:nvSpPr>
        <p:spPr>
          <a:xfrm>
            <a:off x="1440180" y="2103120"/>
            <a:ext cx="1280160" cy="1280160"/>
          </a:xfrm>
          <a:prstGeom prst="ellipse">
            <a:avLst/>
          </a:prstGeom>
          <a:solidFill>
            <a:srgbClr val="3FA9A0"/>
          </a:solidFill>
          <a:ln/>
        </p:spPr>
      </p:sp>
      <p:sp>
        <p:nvSpPr>
          <p:cNvPr id="8" name="Text 6"/>
          <p:cNvSpPr/>
          <p:nvPr/>
        </p:nvSpPr>
        <p:spPr>
          <a:xfrm>
            <a:off x="144018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Jannat-a-habib-Baishakhi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2131069642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4572000"/>
            <a:ext cx="2286000" cy="0"/>
          </a:xfrm>
          <a:prstGeom prst="line">
            <a:avLst/>
          </a:prstGeom>
          <a:noFill/>
          <a:ln w="12700">
            <a:solidFill>
              <a:srgbClr val="3FA9A0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8006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display pipeline as the final answer — just run on an empty evidence 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737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3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module does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148840"/>
            <a:ext cx="7498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results panel is never left blank: before any clue is submitted, this branch calls inference.query(variables=['GuiltyParty']) with no evidence at all — pure P(GuiltyParty).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that prior into the same Suspect/Probability display used after solving, so the uniform 33.33% / 33.33% / 33.33% split is visible the moment the app loads.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fallback table and st.bar_chart, giving players a visual baseline to compare against once real clues start reshaping the posterior.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the st.info() nudge (‘Enter clues in the sidebar and click Solve the Mystery’) plus exception handling around the prior computation itself.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|  Md. Nazibul Islam Nabil • Tasnif Gaffar Pronoy • Nazifa Tahsin • Zinat Shaharin Mim • Jannat-a-habib-Baishakhi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2026-08-26T23:11:09Z</dcterms:created>
  <dcterms:modified xsi:type="dcterms:W3CDTF">2026-08-26T23:11:09Z</dcterms:modified>
</cp:coreProperties>
</file>